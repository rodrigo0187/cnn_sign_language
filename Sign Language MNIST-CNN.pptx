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embeddedFontLst>
    <p:embeddedFont>
      <p:font typeface="Roboto"/>
      <p:regular r:id="rId17"/>
      <p:bold r:id="rId18"/>
      <p:italic r:id="rId19"/>
      <p:boldItalic r:id="rId20"/>
    </p:embeddedFont>
    <p:embeddedFont>
      <p:font typeface="Merriweather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D0DE580-50FD-4368-84C6-9706F298DCC9}">
  <a:tblStyle styleId="{8D0DE580-50FD-4368-84C6-9706F298DCC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Italic.fntdata"/><Relationship Id="rId11" Type="http://schemas.openxmlformats.org/officeDocument/2006/relationships/slide" Target="slides/slide5.xml"/><Relationship Id="rId22" Type="http://schemas.openxmlformats.org/officeDocument/2006/relationships/font" Target="fonts/Merriweather-bold.fntdata"/><Relationship Id="rId10" Type="http://schemas.openxmlformats.org/officeDocument/2006/relationships/slide" Target="slides/slide4.xml"/><Relationship Id="rId21" Type="http://schemas.openxmlformats.org/officeDocument/2006/relationships/font" Target="fonts/Merriweather-regular.fntdata"/><Relationship Id="rId13" Type="http://schemas.openxmlformats.org/officeDocument/2006/relationships/slide" Target="slides/slide7.xml"/><Relationship Id="rId24" Type="http://schemas.openxmlformats.org/officeDocument/2006/relationships/font" Target="fonts/Merriweather-boldItalic.fntdata"/><Relationship Id="rId12" Type="http://schemas.openxmlformats.org/officeDocument/2006/relationships/slide" Target="slides/slide6.xml"/><Relationship Id="rId23" Type="http://schemas.openxmlformats.org/officeDocument/2006/relationships/font" Target="fonts/Merriweather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Roboto-regular.fntdata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font" Target="fonts/Roboto-italic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Roboto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h7441c61151db1e43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h7441c61151db1e43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h7441c61151db1e43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h7441c61151db1e43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h7441c61151db1e43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h7441c61151db1e43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8f95fee2fcdeee4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h8f95fee2fcdeee4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h7441c61151db1e43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h7441c61151db1e43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8f95fee2fcdeee4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h8f95fee2fcdeee4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h8f95fee2fcdeee4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h8f95fee2fcdeee4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h8f95fee2fcdeee4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h8f95fee2fcdeee4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h8f95fee2fcdeee4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h8f95fee2fcdeee4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rect b="b" l="l" r="r" t="t"/>
            <a:pathLst>
              <a:path extrusionOk="0" h="175975" w="172545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2" type="body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 txBox="1"/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3" name="Google Shape;4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9"/>
          <p:cNvSpPr txBox="1"/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" type="subTitle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8" name="Google Shape;48;p9"/>
          <p:cNvSpPr txBox="1"/>
          <p:nvPr>
            <p:ph idx="2" type="body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0"/>
          <p:cNvSpPr txBox="1"/>
          <p:nvPr>
            <p:ph idx="1" type="body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/>
        </p:txBody>
      </p:sp>
      <p:sp>
        <p:nvSpPr>
          <p:cNvPr id="53" name="Google Shape;5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hasCustomPrompt="1" type="title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/>
          <p:nvPr>
            <p:ph idx="1" type="body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radig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ctrTitle"/>
          </p:nvPr>
        </p:nvSpPr>
        <p:spPr>
          <a:xfrm>
            <a:off x="311700" y="856775"/>
            <a:ext cx="5468400" cy="83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Sign Language MNIST</a:t>
            </a:r>
            <a:endParaRPr/>
          </a:p>
        </p:txBody>
      </p:sp>
      <p:sp>
        <p:nvSpPr>
          <p:cNvPr id="65" name="Google Shape;65;p13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rPr>
              <a:t>Diseño de una Red Neuronal Convolucional</a:t>
            </a:r>
            <a:endParaRPr/>
          </a:p>
        </p:txBody>
      </p:sp>
      <p:pic>
        <p:nvPicPr>
          <p:cNvPr id="66" name="Google Shape;66;p13" title="Logo_DuocU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3825" y="159700"/>
            <a:ext cx="2113777" cy="51915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3"/>
          <p:cNvSpPr txBox="1"/>
          <p:nvPr/>
        </p:nvSpPr>
        <p:spPr>
          <a:xfrm>
            <a:off x="4755000" y="3562875"/>
            <a:ext cx="42426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00">
                <a:solidFill>
                  <a:srgbClr val="F8B31C"/>
                </a:solidFill>
                <a:latin typeface="Roboto"/>
                <a:ea typeface="Roboto"/>
                <a:cs typeface="Roboto"/>
                <a:sym typeface="Roboto"/>
              </a:rPr>
              <a:t>Asignatura:</a:t>
            </a:r>
            <a:r>
              <a:rPr lang="es" sz="13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Técnicas Avanzadas de Machine Learning I</a:t>
            </a:r>
            <a:endParaRPr sz="13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00">
                <a:solidFill>
                  <a:srgbClr val="F8B31C"/>
                </a:solidFill>
                <a:latin typeface="Roboto"/>
                <a:ea typeface="Roboto"/>
                <a:cs typeface="Roboto"/>
                <a:sym typeface="Roboto"/>
              </a:rPr>
              <a:t>Docente: </a:t>
            </a:r>
            <a:r>
              <a:rPr lang="es"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Jazna Patricia Meza Hidalgo</a:t>
            </a:r>
            <a:endParaRPr sz="1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00">
                <a:solidFill>
                  <a:srgbClr val="F8B31C"/>
                </a:solidFill>
                <a:latin typeface="Roboto"/>
                <a:ea typeface="Roboto"/>
                <a:cs typeface="Roboto"/>
                <a:sym typeface="Roboto"/>
              </a:rPr>
              <a:t>Sección:</a:t>
            </a:r>
            <a:r>
              <a:rPr lang="es"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001D</a:t>
            </a:r>
            <a:endParaRPr sz="1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25" y="500925"/>
            <a:ext cx="3706500" cy="7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Equipo de Trabajo</a:t>
            </a:r>
            <a:endParaRPr/>
          </a:p>
        </p:txBody>
      </p:sp>
      <p:pic>
        <p:nvPicPr>
          <p:cNvPr id="73" name="Google Shape;73;p14" title="Logo_DuocU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3825" y="159700"/>
            <a:ext cx="2113777" cy="519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 title="699802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25" y="2027320"/>
            <a:ext cx="663759" cy="663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 title="10041755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1725" y="1202500"/>
            <a:ext cx="663759" cy="663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4" title="businessma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1725" y="2852140"/>
            <a:ext cx="663759" cy="663759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4"/>
          <p:cNvSpPr txBox="1"/>
          <p:nvPr/>
        </p:nvSpPr>
        <p:spPr>
          <a:xfrm>
            <a:off x="1175821" y="1406400"/>
            <a:ext cx="1503900" cy="3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60800" lIns="60800" spcFirstLastPara="1" rIns="60800" wrap="square" tIns="6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Martina López</a:t>
            </a:r>
            <a:endParaRPr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" name="Google Shape;78;p14"/>
          <p:cNvSpPr txBox="1"/>
          <p:nvPr/>
        </p:nvSpPr>
        <p:spPr>
          <a:xfrm>
            <a:off x="1175821" y="2231225"/>
            <a:ext cx="1503900" cy="3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60800" lIns="60800" spcFirstLastPara="1" rIns="60800" wrap="square" tIns="6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Rodrigo Aedo</a:t>
            </a:r>
            <a:endParaRPr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1102330" y="3056050"/>
            <a:ext cx="1695000" cy="3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60800" lIns="60800" spcFirstLastPara="1" rIns="60800" wrap="square" tIns="6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Benjamín</a:t>
            </a:r>
            <a:r>
              <a:rPr b="1" lang="es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Figueroa</a:t>
            </a:r>
            <a:endParaRPr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0" name="Google Shape;80;p14"/>
          <p:cNvGraphicFramePr/>
          <p:nvPr/>
        </p:nvGraphicFramePr>
        <p:xfrm>
          <a:off x="4675050" y="826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{8D0DE580-50FD-4368-84C6-9706F298DCC9}</a:tableStyleId>
              </a:tblPr>
              <a:tblGrid>
                <a:gridCol w="2104650"/>
                <a:gridCol w="2104650"/>
              </a:tblGrid>
              <a:tr h="5009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>
                          <a:solidFill>
                            <a:schemeClr val="lt1"/>
                          </a:solidFill>
                        </a:rPr>
                        <a:t>Integrante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01040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>
                          <a:solidFill>
                            <a:schemeClr val="lt1"/>
                          </a:solidFill>
                        </a:rPr>
                        <a:t>Responsabilidades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solidFill>
                      <a:srgbClr val="010409"/>
                    </a:solidFill>
                  </a:tcPr>
                </a:tc>
              </a:tr>
              <a:tr h="1143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Martina López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s"/>
                        <a:t>Planificación y Documentación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143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Rodrigo Aedo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s"/>
                        <a:t>Diseño de la arquitectura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143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Benjamin Figueroa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s"/>
                        <a:t>Entrenamiento del modelo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5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Descripción del problema</a:t>
            </a:r>
            <a:endParaRPr/>
          </a:p>
        </p:txBody>
      </p:sp>
      <p:sp>
        <p:nvSpPr>
          <p:cNvPr id="86" name="Google Shape;86;p15"/>
          <p:cNvSpPr txBox="1"/>
          <p:nvPr>
            <p:ph idx="1" type="body"/>
          </p:nvPr>
        </p:nvSpPr>
        <p:spPr>
          <a:xfrm>
            <a:off x="4264925" y="758475"/>
            <a:ext cx="4732800" cy="413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●"/>
            </a:pPr>
            <a:r>
              <a:rPr b="1" lang="es" sz="1700">
                <a:solidFill>
                  <a:srgbClr val="000000"/>
                </a:solidFill>
              </a:rPr>
              <a:t>Tarea:</a:t>
            </a:r>
            <a:r>
              <a:rPr lang="es" sz="1700">
                <a:solidFill>
                  <a:srgbClr val="000000"/>
                </a:solidFill>
              </a:rPr>
              <a:t> A partir de la imagen de una mano, el modelo predice qué letra del alfabeto de lengua de señas representa.</a:t>
            </a:r>
            <a:endParaRPr sz="1700">
              <a:solidFill>
                <a:srgbClr val="000000"/>
              </a:solidFill>
            </a:endParaRPr>
          </a:p>
          <a:p>
            <a:pPr indent="-3365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●"/>
            </a:pPr>
            <a:r>
              <a:rPr b="1" lang="es" sz="1700">
                <a:solidFill>
                  <a:srgbClr val="000000"/>
                </a:solidFill>
              </a:rPr>
              <a:t>Dataset:</a:t>
            </a:r>
            <a:r>
              <a:rPr lang="es" sz="1700">
                <a:solidFill>
                  <a:srgbClr val="000000"/>
                </a:solidFill>
              </a:rPr>
              <a:t> Sign Language MNIST. </a:t>
            </a:r>
            <a:r>
              <a:rPr b="1" i="1" lang="es" sz="1700">
                <a:solidFill>
                  <a:srgbClr val="0B5394"/>
                </a:solidFill>
              </a:rPr>
              <a:t>27.455 imágenes de entrenamiento</a:t>
            </a:r>
            <a:r>
              <a:rPr lang="es" sz="1700">
                <a:solidFill>
                  <a:srgbClr val="000000"/>
                </a:solidFill>
              </a:rPr>
              <a:t> (21.964 para entrenar y 5.491 para validar) y </a:t>
            </a:r>
            <a:r>
              <a:rPr b="1" i="1" lang="es" sz="1700">
                <a:solidFill>
                  <a:srgbClr val="0B5394"/>
                </a:solidFill>
              </a:rPr>
              <a:t>7.172 de test</a:t>
            </a:r>
            <a:r>
              <a:rPr lang="es" sz="1700">
                <a:solidFill>
                  <a:srgbClr val="000000"/>
                </a:solidFill>
              </a:rPr>
              <a:t>. </a:t>
            </a:r>
            <a:endParaRPr sz="1700">
              <a:solidFill>
                <a:srgbClr val="000000"/>
              </a:solidFill>
            </a:endParaRPr>
          </a:p>
          <a:p>
            <a:pPr indent="-3365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●"/>
            </a:pPr>
            <a:r>
              <a:rPr b="1" lang="es" sz="1700">
                <a:solidFill>
                  <a:srgbClr val="000000"/>
                </a:solidFill>
              </a:rPr>
              <a:t>Clases:</a:t>
            </a:r>
            <a:r>
              <a:rPr lang="es" sz="1700">
                <a:solidFill>
                  <a:srgbClr val="000000"/>
                </a:solidFill>
              </a:rPr>
              <a:t> 24 letras. apartando la letra </a:t>
            </a:r>
            <a:r>
              <a:rPr b="1" lang="es" sz="1700">
                <a:solidFill>
                  <a:srgbClr val="F8B31C"/>
                </a:solidFill>
              </a:rPr>
              <a:t>J</a:t>
            </a:r>
            <a:r>
              <a:rPr lang="es" sz="1700">
                <a:solidFill>
                  <a:srgbClr val="000000"/>
                </a:solidFill>
              </a:rPr>
              <a:t> y </a:t>
            </a:r>
            <a:r>
              <a:rPr b="1" lang="es" sz="1700">
                <a:solidFill>
                  <a:srgbClr val="F8B31C"/>
                </a:solidFill>
              </a:rPr>
              <a:t>Z</a:t>
            </a:r>
            <a:r>
              <a:rPr lang="es" sz="1700">
                <a:solidFill>
                  <a:srgbClr val="000000"/>
                </a:solidFill>
              </a:rPr>
              <a:t>.</a:t>
            </a:r>
            <a:endParaRPr sz="1700">
              <a:solidFill>
                <a:srgbClr val="000000"/>
              </a:solidFill>
            </a:endParaRPr>
          </a:p>
          <a:p>
            <a:pPr indent="-3365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●"/>
            </a:pPr>
            <a:r>
              <a:rPr b="1" lang="es" sz="1700">
                <a:solidFill>
                  <a:srgbClr val="000000"/>
                </a:solidFill>
              </a:rPr>
              <a:t>Objetivo:</a:t>
            </a:r>
            <a:r>
              <a:rPr lang="es" sz="1700">
                <a:solidFill>
                  <a:srgbClr val="000000"/>
                </a:solidFill>
              </a:rPr>
              <a:t> Pasar del MLP a una CNN, para aprovechar la estructura espacial de la imagen, y comparar ambos modelos.</a:t>
            </a:r>
            <a:endParaRPr sz="2100">
              <a:solidFill>
                <a:srgbClr val="010409"/>
              </a:solidFill>
            </a:endParaRPr>
          </a:p>
        </p:txBody>
      </p:sp>
      <p:pic>
        <p:nvPicPr>
          <p:cNvPr id="87" name="Google Shape;87;p15" title="Logo_DuocU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3825" y="159700"/>
            <a:ext cx="2113777" cy="51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Decisiones tomadas durante el desarrollo de la arquitectura</a:t>
            </a:r>
            <a:endParaRPr/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4572000" y="1019400"/>
            <a:ext cx="4166400" cy="38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●"/>
            </a:pPr>
            <a:r>
              <a:rPr lang="es" sz="1600">
                <a:solidFill>
                  <a:srgbClr val="000000"/>
                </a:solidFill>
              </a:rPr>
              <a:t>En nuestro modelo anterior (MLP), al aplicar </a:t>
            </a:r>
            <a:r>
              <a:rPr b="1" lang="es" sz="1600">
                <a:solidFill>
                  <a:srgbClr val="188038"/>
                </a:solidFill>
              </a:rPr>
              <a:t>Flatten</a:t>
            </a:r>
            <a:r>
              <a:rPr lang="es" sz="1600">
                <a:solidFill>
                  <a:srgbClr val="000000"/>
                </a:solidFill>
              </a:rPr>
              <a:t> a la imagen de 28x28, esta se convierte en un vector de 784 números y se </a:t>
            </a:r>
            <a:r>
              <a:rPr lang="es" sz="1600">
                <a:solidFill>
                  <a:srgbClr val="000000"/>
                </a:solidFill>
              </a:rPr>
              <a:t>perdían</a:t>
            </a:r>
            <a:r>
              <a:rPr lang="es" sz="1600">
                <a:solidFill>
                  <a:srgbClr val="000000"/>
                </a:solidFill>
              </a:rPr>
              <a:t> la posición de los píxeles.</a:t>
            </a:r>
            <a:endParaRPr sz="1600">
              <a:solidFill>
                <a:srgbClr val="000000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Roboto"/>
              <a:buChar char="●"/>
            </a:pPr>
            <a:r>
              <a:rPr lang="es" sz="1600">
                <a:solidFill>
                  <a:srgbClr val="000000"/>
                </a:solidFill>
              </a:rPr>
              <a:t>En lengua de señas importa la forma de la mano y la posición de los dedos, es decir, patrones espaciales.</a:t>
            </a:r>
            <a:endParaRPr sz="1600">
              <a:solidFill>
                <a:srgbClr val="000000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●"/>
            </a:pPr>
            <a:r>
              <a:rPr lang="es" sz="1600">
                <a:solidFill>
                  <a:srgbClr val="000000"/>
                </a:solidFill>
              </a:rPr>
              <a:t>Nuestra red CNN usa filtros que recorren la imagen y detectan bordes y formas, por lo que se conserva la estructura espacial.</a:t>
            </a:r>
            <a:endParaRPr sz="1600">
              <a:solidFill>
                <a:srgbClr val="010409"/>
              </a:solidFill>
            </a:endParaRPr>
          </a:p>
        </p:txBody>
      </p:sp>
      <p:pic>
        <p:nvPicPr>
          <p:cNvPr id="94" name="Google Shape;94;p16" title="Logo_DuocU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3825" y="159700"/>
            <a:ext cx="2113777" cy="51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/>
          <p:nvPr>
            <p:ph type="title"/>
          </p:nvPr>
        </p:nvSpPr>
        <p:spPr>
          <a:xfrm>
            <a:off x="111825" y="301025"/>
            <a:ext cx="66993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Decisiones tomadas durante el desarrollo de la arquitectura</a:t>
            </a:r>
            <a:endParaRPr/>
          </a:p>
        </p:txBody>
      </p:sp>
      <p:pic>
        <p:nvPicPr>
          <p:cNvPr id="100" name="Google Shape;100;p17" title="Logo_DuocU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3825" y="159700"/>
            <a:ext cx="2113777" cy="519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1475" y="1693000"/>
            <a:ext cx="6473050" cy="2717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8" title="Logo_DuocU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3825" y="159700"/>
            <a:ext cx="2113777" cy="519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2675" y="474600"/>
            <a:ext cx="5282725" cy="419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9" title="Logo_DuocU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3825" y="159700"/>
            <a:ext cx="2113777" cy="5191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13" name="Google Shape;113;p19"/>
          <p:cNvGraphicFramePr/>
          <p:nvPr/>
        </p:nvGraphicFramePr>
        <p:xfrm>
          <a:off x="176388" y="800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{8D0DE580-50FD-4368-84C6-9706F298DCC9}</a:tableStyleId>
              </a:tblPr>
              <a:tblGrid>
                <a:gridCol w="1961450"/>
                <a:gridCol w="6829775"/>
              </a:tblGrid>
              <a:tr h="463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>
                          <a:solidFill>
                            <a:schemeClr val="lt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Decisión </a:t>
                      </a:r>
                      <a:endParaRPr b="1" sz="1500">
                        <a:solidFill>
                          <a:schemeClr val="lt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>
                          <a:solidFill>
                            <a:schemeClr val="lt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Justificación</a:t>
                      </a:r>
                      <a:endParaRPr b="1" sz="1500">
                        <a:solidFill>
                          <a:schemeClr val="lt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/>
                        <a:t>Entrada 28×28×1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/>
                        <a:t>Las imágenes son en escala de grises, por eso tienen 1 solo canal.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/>
                        <a:t>Normalizar (÷255)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/>
                        <a:t>Deja los píxeles entre 0 y 1, lo que ayuda a que Adam converja más estable.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/>
                        <a:t>Conv2D, 64 filtros 3×3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/>
                        <a:t>Un filtro pequeño detecta bordes y formas finas, y 64 filtros dan variedad de patrones. Es el tamaño estándar para imágenes chicas.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/>
                        <a:t>ReLU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/>
                        <a:t>Aporta no linealidad, simple y rápida de calcular.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/>
                        <a:t>MaxPool 2×2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/>
                        <a:t>Reduce el mapa de </a:t>
                      </a:r>
                      <a:r>
                        <a:rPr i="1" lang="es" sz="1300"/>
                        <a:t>26×26</a:t>
                      </a:r>
                      <a:r>
                        <a:rPr lang="es" sz="1300"/>
                        <a:t> a </a:t>
                      </a:r>
                      <a:r>
                        <a:rPr i="1" lang="es" sz="1300"/>
                        <a:t>13×13</a:t>
                      </a:r>
                      <a:r>
                        <a:rPr lang="es" sz="1300"/>
                        <a:t>, con lo que baja los cálculos y hace al modelo más tolerante a pequeños desplazamientos de la mano.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/>
                        <a:t>Flatten + Dense(128)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/>
                        <a:t>Combina las características detectadas para decidir la letra.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/>
                        <a:t>Dense(24) + Softmax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/>
                        <a:t>Hay 24 clases (la J y la Z se excluyen porque requieren movimiento) y Softmax entrega una probabilidad por letra.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Comparación MLP vs CNN</a:t>
            </a:r>
            <a:endParaRPr/>
          </a:p>
        </p:txBody>
      </p:sp>
      <p:pic>
        <p:nvPicPr>
          <p:cNvPr id="119" name="Google Shape;119;p20" title="Logo_DuocU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3825" y="159700"/>
            <a:ext cx="2113777" cy="5191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0" name="Google Shape;120;p20"/>
          <p:cNvGraphicFramePr/>
          <p:nvPr/>
        </p:nvGraphicFramePr>
        <p:xfrm>
          <a:off x="311700" y="1953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{8D0DE580-50FD-4368-84C6-9706F298DCC9}</a:tableStyleId>
              </a:tblPr>
              <a:tblGrid>
                <a:gridCol w="1065075"/>
                <a:gridCol w="1065075"/>
                <a:gridCol w="1065075"/>
                <a:gridCol w="1065075"/>
                <a:gridCol w="1065075"/>
                <a:gridCol w="1065075"/>
                <a:gridCol w="1065075"/>
                <a:gridCol w="1065075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>
                          <a:solidFill>
                            <a:schemeClr val="lt1"/>
                          </a:solidFill>
                        </a:rPr>
                        <a:t>Modelo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01040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>
                          <a:solidFill>
                            <a:schemeClr val="lt1"/>
                          </a:solidFill>
                        </a:rPr>
                        <a:t>Accuracy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4A86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>
                          <a:solidFill>
                            <a:schemeClr val="lt1"/>
                          </a:solidFill>
                        </a:rPr>
                        <a:t>Precision 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>
                          <a:solidFill>
                            <a:schemeClr val="lt1"/>
                          </a:solidFill>
                        </a:rPr>
                        <a:t>Recall 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6AA84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>
                          <a:solidFill>
                            <a:schemeClr val="lt1"/>
                          </a:solidFill>
                        </a:rPr>
                        <a:t>F1 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38100" marB="38100" marR="76200" marL="76200" anchor="ctr"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>
                          <a:solidFill>
                            <a:srgbClr val="010409"/>
                          </a:solidFill>
                        </a:rPr>
                        <a:t>Parámetros</a:t>
                      </a:r>
                      <a:endParaRPr b="1"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>
                          <a:solidFill>
                            <a:srgbClr val="010409"/>
                          </a:solidFill>
                        </a:rPr>
                        <a:t>Tiempo inferencia (s)</a:t>
                      </a:r>
                      <a:endParaRPr b="1"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>
                          <a:solidFill>
                            <a:srgbClr val="010409"/>
                          </a:solidFill>
                        </a:rPr>
                        <a:t>Tiempo por imagen (ms)</a:t>
                      </a:r>
                      <a:endParaRPr b="1"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 anchor="ctr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>
                          <a:solidFill>
                            <a:srgbClr val="010409"/>
                          </a:solidFill>
                        </a:rPr>
                        <a:t>MLP</a:t>
                      </a:r>
                      <a:endParaRPr b="1"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</a:rPr>
                        <a:t>0.7193</a:t>
                      </a:r>
                      <a:endParaRPr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</a:rPr>
                        <a:t>0.7140</a:t>
                      </a:r>
                      <a:endParaRPr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</a:rPr>
                        <a:t>0.7174</a:t>
                      </a:r>
                      <a:endParaRPr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</a:rPr>
                        <a:t>0.7013</a:t>
                      </a:r>
                      <a:endParaRPr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</a:rPr>
                        <a:t>110296</a:t>
                      </a:r>
                      <a:endParaRPr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</a:rPr>
                        <a:t>0.2706</a:t>
                      </a:r>
                      <a:endParaRPr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</a:rPr>
                        <a:t>0.0377</a:t>
                      </a:r>
                      <a:endParaRPr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300">
                          <a:solidFill>
                            <a:srgbClr val="010409"/>
                          </a:solidFill>
                        </a:rPr>
                        <a:t>CNN</a:t>
                      </a:r>
                      <a:endParaRPr b="1"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</a:rPr>
                        <a:t>0.8122</a:t>
                      </a:r>
                      <a:endParaRPr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</a:rPr>
                        <a:t>0.7976</a:t>
                      </a:r>
                      <a:endParaRPr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</a:rPr>
                        <a:t>0.7991</a:t>
                      </a:r>
                      <a:endParaRPr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</a:rPr>
                        <a:t>0.7916</a:t>
                      </a:r>
                      <a:endParaRPr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</a:rPr>
                        <a:t>1388312</a:t>
                      </a:r>
                      <a:endParaRPr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</a:rPr>
                        <a:t>0.6920</a:t>
                      </a:r>
                      <a:endParaRPr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</a:rPr>
                        <a:t>0.0965</a:t>
                      </a:r>
                      <a:endParaRPr sz="1300">
                        <a:solidFill>
                          <a:srgbClr val="010409"/>
                        </a:solidFill>
                      </a:endParaRPr>
                    </a:p>
                  </a:txBody>
                  <a:tcPr marT="38100" marB="38100" marR="76200" marL="76200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1" title="Logo_DuocU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3825" y="159700"/>
            <a:ext cx="2113777" cy="519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0025" y="867000"/>
            <a:ext cx="7503950" cy="3714076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1"/>
          <p:cNvSpPr/>
          <p:nvPr/>
        </p:nvSpPr>
        <p:spPr>
          <a:xfrm>
            <a:off x="7258050" y="3462350"/>
            <a:ext cx="914400" cy="642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" name="Google Shape;128;p21"/>
          <p:cNvSpPr txBox="1"/>
          <p:nvPr/>
        </p:nvSpPr>
        <p:spPr>
          <a:xfrm>
            <a:off x="7219950" y="3409975"/>
            <a:ext cx="904800" cy="1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s" sz="900">
                <a:solidFill>
                  <a:srgbClr val="010409"/>
                </a:solidFill>
                <a:latin typeface="Roboto"/>
                <a:ea typeface="Roboto"/>
                <a:cs typeface="Roboto"/>
                <a:sym typeface="Roboto"/>
              </a:rPr>
              <a:t>Accuracy</a:t>
            </a:r>
            <a:endParaRPr sz="800">
              <a:solidFill>
                <a:srgbClr val="01040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" name="Google Shape;129;p21"/>
          <p:cNvSpPr txBox="1"/>
          <p:nvPr/>
        </p:nvSpPr>
        <p:spPr>
          <a:xfrm>
            <a:off x="7219950" y="3552775"/>
            <a:ext cx="904800" cy="1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s" sz="900">
                <a:solidFill>
                  <a:srgbClr val="010409"/>
                </a:solidFill>
                <a:latin typeface="Roboto"/>
                <a:ea typeface="Roboto"/>
                <a:cs typeface="Roboto"/>
                <a:sym typeface="Roboto"/>
              </a:rPr>
              <a:t>Precision</a:t>
            </a:r>
            <a:endParaRPr sz="800">
              <a:solidFill>
                <a:srgbClr val="01040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" name="Google Shape;130;p21"/>
          <p:cNvSpPr txBox="1"/>
          <p:nvPr/>
        </p:nvSpPr>
        <p:spPr>
          <a:xfrm>
            <a:off x="7219950" y="3725753"/>
            <a:ext cx="904800" cy="1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s" sz="900">
                <a:solidFill>
                  <a:srgbClr val="010409"/>
                </a:solidFill>
                <a:latin typeface="Roboto"/>
                <a:ea typeface="Roboto"/>
                <a:cs typeface="Roboto"/>
                <a:sym typeface="Roboto"/>
              </a:rPr>
              <a:t>Recall</a:t>
            </a:r>
            <a:endParaRPr sz="800">
              <a:solidFill>
                <a:srgbClr val="01040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" name="Google Shape;131;p21"/>
          <p:cNvSpPr txBox="1"/>
          <p:nvPr/>
        </p:nvSpPr>
        <p:spPr>
          <a:xfrm>
            <a:off x="7219950" y="3872025"/>
            <a:ext cx="904800" cy="1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s" sz="900">
                <a:solidFill>
                  <a:srgbClr val="010409"/>
                </a:solidFill>
                <a:latin typeface="Roboto"/>
                <a:ea typeface="Roboto"/>
                <a:cs typeface="Roboto"/>
                <a:sym typeface="Roboto"/>
              </a:rPr>
              <a:t>F1</a:t>
            </a:r>
            <a:endParaRPr sz="800">
              <a:solidFill>
                <a:srgbClr val="01040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2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Comparación MLP vs CNN</a:t>
            </a:r>
            <a:endParaRPr/>
          </a:p>
        </p:txBody>
      </p:sp>
      <p:pic>
        <p:nvPicPr>
          <p:cNvPr id="137" name="Google Shape;137;p22" title="Logo_DuocU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3825" y="159700"/>
            <a:ext cx="2113777" cy="5191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38" name="Google Shape;138;p22"/>
          <p:cNvGraphicFramePr/>
          <p:nvPr/>
        </p:nvGraphicFramePr>
        <p:xfrm>
          <a:off x="311700" y="13887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{8D0DE580-50FD-4368-84C6-9706F298DCC9}</a:tableStyleId>
              </a:tblPr>
              <a:tblGrid>
                <a:gridCol w="2840200"/>
                <a:gridCol w="2840200"/>
                <a:gridCol w="28402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b="1" lang="es" sz="1200">
                          <a:solidFill>
                            <a:schemeClr val="lt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Criterio</a:t>
                      </a:r>
                      <a:endParaRPr b="1" sz="1200">
                        <a:solidFill>
                          <a:schemeClr val="lt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>
                    <a:solidFill>
                      <a:srgbClr val="BF9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b="1" lang="es" sz="1200">
                          <a:solidFill>
                            <a:schemeClr val="lt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MLP</a:t>
                      </a:r>
                      <a:endParaRPr b="1" sz="1200">
                        <a:solidFill>
                          <a:schemeClr val="lt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>
                    <a:solidFill>
                      <a:srgbClr val="BF9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b="1" lang="es" sz="1200">
                          <a:solidFill>
                            <a:schemeClr val="lt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CNN</a:t>
                      </a:r>
                      <a:endParaRPr b="1" sz="1200">
                        <a:solidFill>
                          <a:schemeClr val="lt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>
                    <a:solidFill>
                      <a:srgbClr val="BF900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b="1"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Desempeño en test</a:t>
                      </a:r>
                      <a:endParaRPr b="1"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Inferior en las métricas obtenidas</a:t>
                      </a:r>
                      <a:endParaRPr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Superior en las métricas obtenidas</a:t>
                      </a:r>
                      <a:endParaRPr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b="1"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Parámetros entrenables</a:t>
                      </a:r>
                      <a:endParaRPr b="1"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110.296</a:t>
                      </a:r>
                      <a:endParaRPr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1.388.312</a:t>
                      </a:r>
                      <a:endParaRPr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b="1"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Tiempo de inferencia medido</a:t>
                      </a:r>
                      <a:endParaRPr b="1"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Menor (aprox. 0,2706 s por el lote)</a:t>
                      </a:r>
                      <a:endParaRPr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Mayor (aprox. 0,6920 s por el lote)</a:t>
                      </a:r>
                      <a:endParaRPr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b="1"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Tratamiento de la imagen</a:t>
                      </a:r>
                      <a:endParaRPr b="1"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Aplana la imagen y aprende relaciones entre píxeles</a:t>
                      </a:r>
                      <a:endParaRPr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Usa filtros convolucionales para extraer patrones espaciales</a:t>
                      </a:r>
                      <a:endParaRPr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b="1"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Ventaja principal</a:t>
                      </a:r>
                      <a:endParaRPr b="1"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Más liviano y rápido</a:t>
                      </a:r>
                      <a:endParaRPr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Mejor desempeño para reconocer patrones visuales</a:t>
                      </a:r>
                      <a:endParaRPr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b="1"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Desventaja principal</a:t>
                      </a:r>
                      <a:endParaRPr b="1"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Pierde la estructura espacial explícita al aplanar la imagen</a:t>
                      </a:r>
                      <a:endParaRPr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es" sz="1300">
                          <a:solidFill>
                            <a:srgbClr val="0104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Mayor costo computacional y más parámetros</a:t>
                      </a:r>
                      <a:endParaRPr sz="1300">
                        <a:solidFill>
                          <a:srgbClr val="010409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3500" marB="63500" marR="63500" marL="63500" anchor="ctr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