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Merriweath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3131CC-FE9B-46E8-9192-45D442ACB4E6}">
  <a:tblStyle styleId="{A43131CC-FE9B-46E8-9192-45D442ACB4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22" Type="http://schemas.openxmlformats.org/officeDocument/2006/relationships/font" Target="fonts/Merriweather-bold.fntdata"/><Relationship Id="rId10" Type="http://schemas.openxmlformats.org/officeDocument/2006/relationships/slide" Target="slides/slide4.xml"/><Relationship Id="rId21" Type="http://schemas.openxmlformats.org/officeDocument/2006/relationships/font" Target="fonts/Merriweather-regular.fntdata"/><Relationship Id="rId13" Type="http://schemas.openxmlformats.org/officeDocument/2006/relationships/slide" Target="slides/slide7.xml"/><Relationship Id="rId24" Type="http://schemas.openxmlformats.org/officeDocument/2006/relationships/font" Target="fonts/Merriweather-boldItalic.fntdata"/><Relationship Id="rId12" Type="http://schemas.openxmlformats.org/officeDocument/2006/relationships/slide" Target="slides/slide6.xml"/><Relationship Id="rId23" Type="http://schemas.openxmlformats.org/officeDocument/2006/relationships/font" Target="fonts/Merriweath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7441c61151db1e4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7441c61151db1e4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7441c61151db1e4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7441c61151db1e4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7441c61151db1e4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7441c61151db1e4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8f95fee2fcdeee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h8f95fee2fcdeee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7441c61151db1e4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7441c61151db1e4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8f95fee2fcdeee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h8f95fee2fcdeee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8f95fee2fcdeee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h8f95fee2fcdeee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8f95fee2fcdeee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8f95fee2fcdeee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8f95fee2fcdeee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8f95fee2fcdeee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856775"/>
            <a:ext cx="5468400" cy="8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Sign Language MNIST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Diseño de una Red Neuronal Convolucional</a:t>
            </a:r>
            <a:endParaRPr/>
          </a:p>
        </p:txBody>
      </p:sp>
      <p:pic>
        <p:nvPicPr>
          <p:cNvPr id="66" name="Google Shape;66;p13" title="Logo_DuocU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3825" y="159700"/>
            <a:ext cx="2113777" cy="5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/>
        </p:nvSpPr>
        <p:spPr>
          <a:xfrm>
            <a:off x="4755000" y="3562875"/>
            <a:ext cx="4242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F8B31C"/>
                </a:solidFill>
                <a:latin typeface="Roboto"/>
                <a:ea typeface="Roboto"/>
                <a:cs typeface="Roboto"/>
                <a:sym typeface="Roboto"/>
              </a:rPr>
              <a:t>Asignatura:</a:t>
            </a:r>
            <a:r>
              <a:rPr lang="e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Técnicas Avanzadas de Machine Learning I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F8B31C"/>
                </a:solidFill>
                <a:latin typeface="Roboto"/>
                <a:ea typeface="Roboto"/>
                <a:cs typeface="Roboto"/>
                <a:sym typeface="Roboto"/>
              </a:rPr>
              <a:t>Docente: </a:t>
            </a:r>
            <a:r>
              <a:rPr lang="es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Jazna Patricia Meza Hidalgo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F8B31C"/>
                </a:solidFill>
                <a:latin typeface="Roboto"/>
                <a:ea typeface="Roboto"/>
                <a:cs typeface="Roboto"/>
                <a:sym typeface="Roboto"/>
              </a:rPr>
              <a:t>Sección:</a:t>
            </a:r>
            <a:r>
              <a:rPr lang="es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001D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25" y="500925"/>
            <a:ext cx="3706500" cy="7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Equipo de Trabajo</a:t>
            </a:r>
            <a:endParaRPr/>
          </a:p>
        </p:txBody>
      </p:sp>
      <p:pic>
        <p:nvPicPr>
          <p:cNvPr id="73" name="Google Shape;73;p14" title="Logo_DuocU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3825" y="159700"/>
            <a:ext cx="2113777" cy="5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 title="69980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25" y="2027320"/>
            <a:ext cx="663759" cy="663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 title="1004175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25" y="1202500"/>
            <a:ext cx="663759" cy="663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 title="businessma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25" y="2852140"/>
            <a:ext cx="663759" cy="66375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/>
          <p:nvPr/>
        </p:nvSpPr>
        <p:spPr>
          <a:xfrm>
            <a:off x="1175821" y="1406400"/>
            <a:ext cx="15039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00" lIns="60800" spcFirstLastPara="1" rIns="60800" wrap="square" tIns="6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Martina López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1175821" y="2231225"/>
            <a:ext cx="15039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00" lIns="60800" spcFirstLastPara="1" rIns="60800" wrap="square" tIns="6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Rodrigo Aedo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1102330" y="3056050"/>
            <a:ext cx="1695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00" lIns="60800" spcFirstLastPara="1" rIns="60800" wrap="square" tIns="6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Benjamín</a:t>
            </a:r>
            <a:r>
              <a:rPr b="1"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Figueroa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0" name="Google Shape;80;p14"/>
          <p:cNvGraphicFramePr/>
          <p:nvPr/>
        </p:nvGraphicFramePr>
        <p:xfrm>
          <a:off x="4675050" y="82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{A43131CC-FE9B-46E8-9192-45D442ACB4E6}</a:tableStyleId>
              </a:tblPr>
              <a:tblGrid>
                <a:gridCol w="2104650"/>
                <a:gridCol w="2104650"/>
              </a:tblGrid>
              <a:tr h="50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lt1"/>
                          </a:solidFill>
                        </a:rPr>
                        <a:t>Integrante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104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lt1"/>
                          </a:solidFill>
                        </a:rPr>
                        <a:t>Responsabilidades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10409"/>
                    </a:solidFill>
                  </a:tcPr>
                </a:tc>
              </a:tr>
              <a:tr h="114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Martina López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s"/>
                        <a:t>Planificación y Documentación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14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Rodrigo Aedo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s"/>
                        <a:t>Diseño de la arquitectura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14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Benjamin Figueroa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s"/>
                        <a:t>Entrenamiento del modelo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Descripción del problema</a:t>
            </a:r>
            <a:endParaRPr/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4264925" y="758475"/>
            <a:ext cx="4732800" cy="41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s" sz="1700">
                <a:solidFill>
                  <a:srgbClr val="000000"/>
                </a:solidFill>
              </a:rPr>
              <a:t>Tarea:</a:t>
            </a:r>
            <a:r>
              <a:rPr lang="es" sz="1700">
                <a:solidFill>
                  <a:srgbClr val="000000"/>
                </a:solidFill>
              </a:rPr>
              <a:t> A partir de la imagen de una mano, el modelo predice qué letra del alfabeto de lengua de señas representa.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s" sz="1700">
                <a:solidFill>
                  <a:srgbClr val="000000"/>
                </a:solidFill>
              </a:rPr>
              <a:t>Dataset:</a:t>
            </a:r>
            <a:r>
              <a:rPr lang="es" sz="1700">
                <a:solidFill>
                  <a:srgbClr val="000000"/>
                </a:solidFill>
              </a:rPr>
              <a:t> Sign Language MNIST. </a:t>
            </a:r>
            <a:r>
              <a:rPr b="1" i="1" lang="es" sz="1700">
                <a:solidFill>
                  <a:srgbClr val="0B5394"/>
                </a:solidFill>
              </a:rPr>
              <a:t>27.455 imágenes de entrenamiento</a:t>
            </a:r>
            <a:r>
              <a:rPr lang="es" sz="1700">
                <a:solidFill>
                  <a:srgbClr val="000000"/>
                </a:solidFill>
              </a:rPr>
              <a:t> (21.964 para entrenar y 5.491 para validar) y </a:t>
            </a:r>
            <a:r>
              <a:rPr b="1" i="1" lang="es" sz="1700">
                <a:solidFill>
                  <a:srgbClr val="0B5394"/>
                </a:solidFill>
              </a:rPr>
              <a:t>7.172 de test</a:t>
            </a:r>
            <a:r>
              <a:rPr lang="es" sz="1700">
                <a:solidFill>
                  <a:srgbClr val="000000"/>
                </a:solidFill>
              </a:rPr>
              <a:t>. 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s" sz="1700">
                <a:solidFill>
                  <a:srgbClr val="000000"/>
                </a:solidFill>
              </a:rPr>
              <a:t>Clases:</a:t>
            </a:r>
            <a:r>
              <a:rPr lang="es" sz="1700">
                <a:solidFill>
                  <a:srgbClr val="000000"/>
                </a:solidFill>
              </a:rPr>
              <a:t> 24 letras. apartando la letra </a:t>
            </a:r>
            <a:r>
              <a:rPr b="1" lang="es" sz="1700">
                <a:solidFill>
                  <a:srgbClr val="F8B31C"/>
                </a:solidFill>
              </a:rPr>
              <a:t>J</a:t>
            </a:r>
            <a:r>
              <a:rPr lang="es" sz="1700">
                <a:solidFill>
                  <a:srgbClr val="000000"/>
                </a:solidFill>
              </a:rPr>
              <a:t> y </a:t>
            </a:r>
            <a:r>
              <a:rPr b="1" lang="es" sz="1700">
                <a:solidFill>
                  <a:srgbClr val="F8B31C"/>
                </a:solidFill>
              </a:rPr>
              <a:t>Z</a:t>
            </a:r>
            <a:r>
              <a:rPr lang="es" sz="1700">
                <a:solidFill>
                  <a:srgbClr val="000000"/>
                </a:solidFill>
              </a:rPr>
              <a:t>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s" sz="1700">
                <a:solidFill>
                  <a:srgbClr val="000000"/>
                </a:solidFill>
              </a:rPr>
              <a:t>Objetivo:</a:t>
            </a:r>
            <a:r>
              <a:rPr lang="es" sz="1700">
                <a:solidFill>
                  <a:srgbClr val="000000"/>
                </a:solidFill>
              </a:rPr>
              <a:t> Pasar del MLP a una CNN, para aprovechar la estructura espacial de la imagen, y comparar ambos modelos.</a:t>
            </a:r>
            <a:endParaRPr sz="2100">
              <a:solidFill>
                <a:srgbClr val="010409"/>
              </a:solidFill>
            </a:endParaRPr>
          </a:p>
        </p:txBody>
      </p:sp>
      <p:pic>
        <p:nvPicPr>
          <p:cNvPr id="87" name="Google Shape;87;p15" title="Logo_DuocU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3825" y="159700"/>
            <a:ext cx="2113777" cy="5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Decisiones tomadas durante el desarrollo de la arquitectura</a:t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4572000" y="1019400"/>
            <a:ext cx="4166400" cy="3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s" sz="1600">
                <a:solidFill>
                  <a:srgbClr val="000000"/>
                </a:solidFill>
              </a:rPr>
              <a:t>En nuestro modelo anterior (MLP), al aplicar </a:t>
            </a:r>
            <a:r>
              <a:rPr b="1" lang="es" sz="1600">
                <a:solidFill>
                  <a:srgbClr val="188038"/>
                </a:solidFill>
              </a:rPr>
              <a:t>Flatten</a:t>
            </a:r>
            <a:r>
              <a:rPr lang="es" sz="1600">
                <a:solidFill>
                  <a:srgbClr val="000000"/>
                </a:solidFill>
              </a:rPr>
              <a:t> a la imagen de 28x28, esta se convierte en un vector de 784 números y se </a:t>
            </a:r>
            <a:r>
              <a:rPr lang="es" sz="1600">
                <a:solidFill>
                  <a:srgbClr val="000000"/>
                </a:solidFill>
              </a:rPr>
              <a:t>perdían</a:t>
            </a:r>
            <a:r>
              <a:rPr lang="es" sz="1600">
                <a:solidFill>
                  <a:srgbClr val="000000"/>
                </a:solidFill>
              </a:rPr>
              <a:t> la posición de los píxeles.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lang="es" sz="1600">
                <a:solidFill>
                  <a:srgbClr val="000000"/>
                </a:solidFill>
              </a:rPr>
              <a:t>En lengua de señas importa la forma de la mano y la posición de los dedos, es decir, patrones espaciales.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s" sz="1600">
                <a:solidFill>
                  <a:srgbClr val="000000"/>
                </a:solidFill>
              </a:rPr>
              <a:t>Nuestra red CNN usa filtros que recorren la imagen y detectan bordes y formas, por lo que se conserva la estructura espacial.</a:t>
            </a:r>
            <a:endParaRPr sz="1600">
              <a:solidFill>
                <a:srgbClr val="010409"/>
              </a:solidFill>
            </a:endParaRPr>
          </a:p>
        </p:txBody>
      </p:sp>
      <p:pic>
        <p:nvPicPr>
          <p:cNvPr id="94" name="Google Shape;94;p16" title="Logo_DuocU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3825" y="159700"/>
            <a:ext cx="2113777" cy="5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111825" y="301025"/>
            <a:ext cx="66993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Decisiones tomadas durante el desarrollo de la arquitectura</a:t>
            </a:r>
            <a:endParaRPr/>
          </a:p>
        </p:txBody>
      </p:sp>
      <p:pic>
        <p:nvPicPr>
          <p:cNvPr id="100" name="Google Shape;100;p17" title="Logo_DuocU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3825" y="159700"/>
            <a:ext cx="2113777" cy="5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1475" y="1693000"/>
            <a:ext cx="6473050" cy="271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8" title="Logo_DuocU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3825" y="159700"/>
            <a:ext cx="2113777" cy="5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675" y="474600"/>
            <a:ext cx="5282725" cy="419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9" title="Logo_DuocU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3825" y="159700"/>
            <a:ext cx="2113777" cy="5191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3" name="Google Shape;113;p19"/>
          <p:cNvGraphicFramePr/>
          <p:nvPr/>
        </p:nvGraphicFramePr>
        <p:xfrm>
          <a:off x="176388" y="80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{A43131CC-FE9B-46E8-9192-45D442ACB4E6}</a:tableStyleId>
              </a:tblPr>
              <a:tblGrid>
                <a:gridCol w="1961450"/>
                <a:gridCol w="6829775"/>
              </a:tblGrid>
              <a:tr h="46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Decisión </a:t>
                      </a:r>
                      <a:endParaRPr b="1" sz="15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Justificación</a:t>
                      </a:r>
                      <a:endParaRPr b="1" sz="15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/>
                        <a:t>Entrada 28×28×1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Las imágenes son en escala de grises, por eso tienen 1 solo canal.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/>
                        <a:t>Normalizar (÷255)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Deja los píxeles entre 0 y 1, lo que ayuda a que Adam converja más estable.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/>
                        <a:t>Conv2D, 64 filtros 3×3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Un filtro pequeño detecta bordes y formas finas, y 64 filtros dan variedad de patrones. Es el tamaño estándar para imágenes chicas.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/>
                        <a:t>ReLU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Aporta no linealidad, simple y rápida de calcular.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/>
                        <a:t>MaxPool 2×2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Reduce el mapa de </a:t>
                      </a:r>
                      <a:r>
                        <a:rPr i="1" lang="es" sz="1300"/>
                        <a:t>26×26</a:t>
                      </a:r>
                      <a:r>
                        <a:rPr lang="es" sz="1300"/>
                        <a:t> a </a:t>
                      </a:r>
                      <a:r>
                        <a:rPr i="1" lang="es" sz="1300"/>
                        <a:t>13×13</a:t>
                      </a:r>
                      <a:r>
                        <a:rPr lang="es" sz="1300"/>
                        <a:t>, con lo que baja los cálculos y hace al modelo más tolerante a pequeños desplazamientos de la mano.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/>
                        <a:t>Flatten + Dense(128)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Combina las características detectadas para decidir la letra.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/>
                        <a:t>Dense(24) + Softmax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Hay 24 clases (la J y la Z se excluyen porque requieren movimiento) y Softmax entrega una probabilidad por letra.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Comparación MLP vs CNN</a:t>
            </a:r>
            <a:endParaRPr/>
          </a:p>
        </p:txBody>
      </p:sp>
      <p:pic>
        <p:nvPicPr>
          <p:cNvPr id="119" name="Google Shape;119;p20" title="Logo_DuocU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3825" y="159700"/>
            <a:ext cx="2113777" cy="5191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0" name="Google Shape;120;p20"/>
          <p:cNvGraphicFramePr/>
          <p:nvPr/>
        </p:nvGraphicFramePr>
        <p:xfrm>
          <a:off x="311700" y="195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{A43131CC-FE9B-46E8-9192-45D442ACB4E6}</a:tableStyleId>
              </a:tblPr>
              <a:tblGrid>
                <a:gridCol w="1065075"/>
                <a:gridCol w="1065075"/>
                <a:gridCol w="1065075"/>
                <a:gridCol w="1065075"/>
                <a:gridCol w="1065075"/>
                <a:gridCol w="1065075"/>
                <a:gridCol w="1065075"/>
                <a:gridCol w="1065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lt1"/>
                          </a:solidFill>
                        </a:rPr>
                        <a:t>Modelo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0104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lt1"/>
                          </a:solidFill>
                        </a:rPr>
                        <a:t>Accuracy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lt1"/>
                          </a:solidFill>
                        </a:rPr>
                        <a:t>Precision macro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lt1"/>
                          </a:solidFill>
                        </a:rPr>
                        <a:t>Recall macro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lt1"/>
                          </a:solidFill>
                        </a:rPr>
                        <a:t>F1 macro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010409"/>
                          </a:solidFill>
                        </a:rPr>
                        <a:t>Parámetros</a:t>
                      </a:r>
                      <a:endParaRPr b="1"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010409"/>
                          </a:solidFill>
                        </a:rPr>
                        <a:t>Tiempo inferencia (s)</a:t>
                      </a:r>
                      <a:endParaRPr b="1"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010409"/>
                          </a:solidFill>
                        </a:rPr>
                        <a:t>Tiempo por imagen (ms)</a:t>
                      </a:r>
                      <a:endParaRPr b="1"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010409"/>
                          </a:solidFill>
                        </a:rPr>
                        <a:t>MLP</a:t>
                      </a:r>
                      <a:endParaRPr b="1"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0.7193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0.7140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0.7174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0.7013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110296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0.2706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0.0377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010409"/>
                          </a:solidFill>
                        </a:rPr>
                        <a:t>CNN</a:t>
                      </a:r>
                      <a:endParaRPr b="1"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0.8122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0.7976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0.7991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0.7916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1388312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0.6920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0.0965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1" title="Logo_DuocU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3825" y="159700"/>
            <a:ext cx="2113777" cy="5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025" y="867000"/>
            <a:ext cx="7503950" cy="371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Comparación MLP vs CNN</a:t>
            </a:r>
            <a:endParaRPr/>
          </a:p>
        </p:txBody>
      </p:sp>
      <p:pic>
        <p:nvPicPr>
          <p:cNvPr id="132" name="Google Shape;132;p22" title="Logo_DuocU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3825" y="159700"/>
            <a:ext cx="2113777" cy="5191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3" name="Google Shape;133;p22"/>
          <p:cNvGraphicFramePr/>
          <p:nvPr/>
        </p:nvGraphicFramePr>
        <p:xfrm>
          <a:off x="311700" y="138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{A43131CC-FE9B-46E8-9192-45D442ACB4E6}</a:tableStyleId>
              </a:tblPr>
              <a:tblGrid>
                <a:gridCol w="2840200"/>
                <a:gridCol w="2840200"/>
                <a:gridCol w="2840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Criterio</a:t>
                      </a:r>
                      <a:endParaRPr b="1"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MLP</a:t>
                      </a:r>
                      <a:endParaRPr b="1"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CNN</a:t>
                      </a:r>
                      <a:endParaRPr b="1"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>
                    <a:solidFill>
                      <a:srgbClr val="BF9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b="1"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Desempeño en test</a:t>
                      </a:r>
                      <a:endParaRPr b="1"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Inferior en las métricas obtenidas</a:t>
                      </a:r>
                      <a:endParaRPr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Superior en las métricas obtenidas</a:t>
                      </a:r>
                      <a:endParaRPr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b="1"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Parámetros entrenables</a:t>
                      </a:r>
                      <a:endParaRPr b="1"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110.296</a:t>
                      </a:r>
                      <a:endParaRPr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1.388.312</a:t>
                      </a:r>
                      <a:endParaRPr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b="1"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Tiempo de inferencia medido</a:t>
                      </a:r>
                      <a:endParaRPr b="1"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Menor (aprox. 0,2706 s por el lote)</a:t>
                      </a:r>
                      <a:endParaRPr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Mayor (aprox. 0,6920 s por el lote)</a:t>
                      </a:r>
                      <a:endParaRPr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b="1"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Tratamiento de la imagen</a:t>
                      </a:r>
                      <a:endParaRPr b="1"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Aplana la imagen y aprende relaciones entre píxeles</a:t>
                      </a:r>
                      <a:endParaRPr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Usa filtros convolucionales para extraer patrones espaciales</a:t>
                      </a:r>
                      <a:endParaRPr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b="1"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Ventaja principal</a:t>
                      </a:r>
                      <a:endParaRPr b="1"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Más liviano y rápido</a:t>
                      </a:r>
                      <a:endParaRPr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Mejor desempeño para reconocer patrones visuales</a:t>
                      </a:r>
                      <a:endParaRPr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b="1"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Desventaja principal</a:t>
                      </a:r>
                      <a:endParaRPr b="1"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Pierde la estructura espacial explícita al aplanar la imagen</a:t>
                      </a:r>
                      <a:endParaRPr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Mayor costo computacional y más parámetros</a:t>
                      </a:r>
                      <a:endParaRPr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